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 秒】
各位好，我用 5 分钟讲一个已经能跑起来的产品，叫「清醒边界」。
一句话：它用 AI 当陪练，把心理边界练成肌肉记忆。
今天我想讲的不是想法，而是一个完成度已经能演示、并且有两个明确创新点的作品——顺便说清我希望公司给什么支持来孵化它。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 秒】
先说问题。我问过身边很多人同一个问题：在会议室里被当众否定，你能马上接上一句得体又不退让的话吗？多数人答不上来。
这类伤害有三个共同点：话术很模糊，很难判断是恶意还是失言；当下反应不过来，高压下大脑只剩“打”或者“忍”；事后才开始怀疑自己，越想越乱。
市面上不缺课程——但课程解决的是“听懂”。真正缺的是“答得出来”，也就是输出训练。这就是我们的机会点。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 秒】
产品形态很简单，四步闭环：先看一张课前导读卡，认识这类操控长什么样；然后跟一个会施压的 AI 对话，它说的都是真实套路，玩家回应，系统给每一句打分；中间有一个情绪修复环节，重绘边界加呼吸引导；最后拿到一份逐轮点评的复盘报告。
覆盖五个高发场景。
所以它不是内容播放器，它是能陪你练、能给你打分、能给你复盘的训练产品。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 秒】创新点一。
市面上的内容，几乎都在教你“识别危险信号”：拿你和别人比较、把失误放大成能力不行、用权威压你。左边这些，同类都在做。
但我们发现——只教识别会教出更糟的结果：玩家会变成见谁都像操控者的人。因为他的脑子里只有一张危险信号的筛子，没有孔径。
所以右边这些，是我们额外做的：每一条“危险信号”旁边，我们都配一条“这不算操控”的反例。指出具体问题并说明怎么改，是正常反馈；评价只针对产出，是在就事论事。
辨别力，是识别加上排除。这是同类内容普遍缺的那一半，也是我们最核心的差异。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 秒】创新点二，在 AI 这一层。
它同时干两件事：一是当对手，台词是大模型实时生成的，套路来自真实的操控手法池，不是念稿子；二是当教练，每一轮给四维评分、给逐轮反馈、给更好的回应方式。
更重要的是第三条底线：这是教育产品，不能编数据。如果 AI 这次评分不可信，我们会把它标记成“不计成绩”，那一轮不进综合分、也不做对比——宁可少一轮数据，也不给玩家一个假的数字。
工程上为这件事做了五层保障，对玩家是零打扰的。另外点评口径也做了约束：只描述“这句话的作用”，不给对方人格下定论——因为给人贴标签本身就是操控手法，我们自己不能用同样的手法做内容。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 秒】第三块，讲完成度。
这不是一个概念稿。五关主线已经闭环：从课前导读、对战、情绪修复到复盘报告，全链路可跑；五个场景都有真实案例和逐轮点评。
评分是可量化的四个维度，报告可以导出来，成长页能看到趋势和徽章，所以它天生就能做前后测——这一点对以后要验证效果非常关键。
技术上是一套代码，浏览器直接跑，也能打包成桌面端。
一句话：现在的状态是——可以直接现场演示。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【65 秒，含收尾】
最后讲落地和请求。
路径是三步：第一步试点验证，用小范围前后测加行为指标拿到真实数据——我们不用“学员觉得有用”这种主观指标交差；第二步内容扩容，把 5 关扩到 8 到 10 关，引入心理专业顾问审核；第三步产品化，做报告体系和场景延展，比如企业培训、校园、EAP 配套。
今天想请公司给三件事：一个决定，是否立项孵化；一个资源，一位心理专业顾问加美术和前端的人力支持；一个窗口，6 到 8 周的里程碑，交付一个可演示版本和首轮数据。
（收尾，放慢）用产品里的一句话结束：边界不是对所有人都设防，它只是让你更清楚——谁可以走近一点。谢谢。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685800"/>
            <a:ext cx="3200400" cy="3200400"/>
          </a:xfrm>
          <a:prstGeom prst="ellipse">
            <a:avLst/>
          </a:prstGeom>
          <a:solidFill>
            <a:srgbClr val="1F2A26">
              <a:alpha val="0"/>
            </a:srgbClr>
          </a:solidFill>
          <a:ln w="28575">
            <a:solidFill>
              <a:srgbClr val="7FA0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1417320"/>
            <a:ext cx="1737360" cy="1737360"/>
          </a:xfrm>
          <a:prstGeom prst="ellipse">
            <a:avLst/>
          </a:prstGeom>
          <a:solidFill>
            <a:srgbClr val="1F2A26">
              <a:alpha val="0"/>
            </a:srgbClr>
          </a:solidFill>
          <a:ln w="15875">
            <a:solidFill>
              <a:srgbClr val="3351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566928"/>
            <a:ext cx="201168" cy="201168"/>
          </a:xfrm>
          <a:prstGeom prst="ellipse">
            <a:avLst/>
          </a:prstGeom>
          <a:solidFill>
            <a:srgbClr val="BE6A3C"/>
          </a:solidFill>
          <a:ln w="12700">
            <a:solidFill>
              <a:srgbClr val="BE6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FA0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孵化提案 · 5 分钟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清醒边界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7FA0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当陪练，把心理边界练成肌肉记忆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2743200" cy="0"/>
          </a:xfrm>
          <a:prstGeom prst="line">
            <a:avLst/>
          </a:prstGeom>
          <a:noFill/>
          <a:ln w="12700">
            <a:solidFill>
              <a:srgbClr val="335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对话式心理防御训练产品　|　5 个高发场景　|　5 关主线闭环已可运行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为什么需要它？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94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清醒边界 · 孵化提案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5720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64008" cy="2331720"/>
          </a:xfrm>
          <a:prstGeom prst="rect">
            <a:avLst/>
          </a:prstGeom>
          <a:solidFill>
            <a:srgbClr val="BE6A3C"/>
          </a:solidFill>
          <a:ln w="12700">
            <a:solidFill>
              <a:srgbClr val="BE6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459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被当众否定方案时，你能马上接上一句得体又不退让的话吗？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E6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我们在内部做过小范围提问：多数人的答案是“不能”。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1371600"/>
            <a:ext cx="3200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94960" y="1371600"/>
            <a:ext cx="64008" cy="713232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45389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话术很模糊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719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一句话很难判断是恶意，还是失言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2194560"/>
            <a:ext cx="3200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0" y="2194560"/>
            <a:ext cx="64008" cy="713232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2768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当下反应不过来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25420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高压下大脑只剩“打”或“忍”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94960" y="3017520"/>
            <a:ext cx="3200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3017520"/>
            <a:ext cx="64008" cy="713232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30998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事后才怀疑自己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364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反复回想，越想越乱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现有课程解决“听懂”</a:t>
            </a:r>
            <a:pPr algn="l" indent="0" marL="0">
              <a:buNone/>
            </a:pPr>
            <a:r>
              <a:rPr lang="en-US" sz="15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，不解决“答得出来”——</a:t>
            </a:r>
            <a:pPr algn="l" indent="0" marL="0">
              <a:buNone/>
            </a:pPr>
            <a:r>
              <a:rPr lang="en-US" sz="1500" b="1" dirty="0">
                <a:solidFill>
                  <a:srgbClr val="BE6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输出训练是空白。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它是怎么玩的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94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清醒边界 · 孵化提案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71016" y="1298448"/>
            <a:ext cx="384048" cy="384048"/>
          </a:xfrm>
          <a:prstGeom prst="ellipse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1016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14016" y="1490472"/>
            <a:ext cx="173736" cy="0"/>
          </a:xfrm>
          <a:prstGeom prst="line">
            <a:avLst/>
          </a:prstGeom>
          <a:noFill/>
          <a:ln w="19050">
            <a:solidFill>
              <a:srgbClr val="DED9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1865376"/>
            <a:ext cx="18288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65376"/>
            <a:ext cx="64008" cy="1261872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482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课前导读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957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认识这类操控长什么样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6704" y="1298448"/>
            <a:ext cx="384048" cy="384048"/>
          </a:xfrm>
          <a:prstGeom prst="ellipse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9704" y="1490472"/>
            <a:ext cx="173736" cy="0"/>
          </a:xfrm>
          <a:prstGeom prst="line">
            <a:avLst/>
          </a:prstGeom>
          <a:noFill/>
          <a:ln w="19050">
            <a:solidFill>
              <a:srgbClr val="DED9C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624328" y="1865376"/>
            <a:ext cx="18288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24328" y="1865376"/>
            <a:ext cx="64008" cy="1261872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20482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对话对战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07208" y="23957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AI 过招，每句打分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22392" y="1298448"/>
            <a:ext cx="384048" cy="384048"/>
          </a:xfrm>
          <a:prstGeom prst="ellipse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65392" y="1490472"/>
            <a:ext cx="173736" cy="0"/>
          </a:xfrm>
          <a:prstGeom prst="line">
            <a:avLst/>
          </a:prstGeom>
          <a:noFill/>
          <a:ln w="19050">
            <a:solidFill>
              <a:srgbClr val="DED9C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700016" y="1865376"/>
            <a:ext cx="18288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865376"/>
            <a:ext cx="64008" cy="1261872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0482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情绪修复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82896" y="23957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重绘边界 + 呼吸引导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98080" y="1298448"/>
            <a:ext cx="384048" cy="384048"/>
          </a:xfrm>
          <a:prstGeom prst="ellipse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75704" y="1865376"/>
            <a:ext cx="182880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75704" y="1865376"/>
            <a:ext cx="64008" cy="1261872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58584" y="20482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复盘报告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58584" y="239572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逐轮点评，可带走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3493008"/>
            <a:ext cx="8046720" cy="640080"/>
          </a:xfrm>
          <a:prstGeom prst="rect">
            <a:avLst/>
          </a:prstGeom>
          <a:solidFill>
            <a:srgbClr val="EDEADF"/>
          </a:solidFill>
          <a:ln w="9525">
            <a:solidFill>
              <a:srgbClr val="DED9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4930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五个场景：</a:t>
            </a:r>
            <a:pPr algn="l" indent="0" marL="0">
              <a:buNone/>
            </a:pPr>
            <a:r>
              <a:rPr lang="en-US" sz="13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煤气灯操控　·　职场打压　·　亲情绑架　·　网络围攻　·　偏见伪装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2611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它不是内容播放器——是能陪你练、能给你打分、能给你复盘的 AI 训练产品。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 · 不只教“识别”，还教“排除”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94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清醒边界 · 孵化提案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749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64008" cy="2103120"/>
          </a:xfrm>
          <a:prstGeom prst="rect">
            <a:avLst/>
          </a:prstGeom>
          <a:solidFill>
            <a:srgbClr val="BE6A3C"/>
          </a:solidFill>
          <a:ln w="12700">
            <a:solidFill>
              <a:srgbClr val="BE6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6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识别信号（同类都在做）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拿你和别人比较来否定你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把正常失误放大成“能力不行”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用职位权威堵住你的反驳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749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64008" cy="2103120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这些不算操控（我们的补充）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938528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指出方案的具体问题，并说明怎么改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评价只针对产出，不评价你这个人</a:t>
            </a:r>
            <a:endParaRPr lang="en-US" sz="1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说明落选是因为哪一项没达标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辨别力 = 识别 + 排除。</a:t>
            </a:r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只教识别会教出过度戒备的人，所以我们同时给出反例，并保留「先确认，再反击」这条低对抗路径。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同类内容普遍只给“危险信号”——这是结构性缺口，也是我们最核心的差异。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 · AI 既当对手，也当教练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94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清醒边界 · 孵化提案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64008" cy="2148840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459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会施压的对手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066544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台词由大模型实时生成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套路取自真实操控手法池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64008" cy="2148840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459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会点评的教练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066544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每轮给四维评分、逐轮反馈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以及更好的回应方式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560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417320"/>
            <a:ext cx="64008" cy="2148840"/>
          </a:xfrm>
          <a:prstGeom prst="rect">
            <a:avLst/>
          </a:prstGeom>
          <a:solidFill>
            <a:srgbClr val="BE6A3C"/>
          </a:solidFill>
          <a:ln w="12700">
            <a:solidFill>
              <a:srgbClr val="BE6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459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不编数据的底线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066544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评分不可信就标记“不计成绩”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也绝不拿假分数当成绩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8046720" cy="603504"/>
          </a:xfrm>
          <a:prstGeom prst="rect">
            <a:avLst/>
          </a:prstGeom>
          <a:solidFill>
            <a:srgbClr val="EDEADF"/>
          </a:solidFill>
          <a:ln w="9525">
            <a:solidFill>
              <a:srgbClr val="DED9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6732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工程保障：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三级模型降级 → 内容过短重试 → 解析多层修复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降级前重试 → 兜底标记“不计成绩”，全程对玩家零打扰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内容口径：点评只描述“这句话的作用”，不给对方人格下定论。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4E6B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 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整体完成度 · 不是概念，是能跑的产品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7594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清醒边界 · 孵化提案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749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64008" cy="1097280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636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 关主线闭环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1947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备战 → 对战 → 修复 → 复盘 → 成长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全链路已跑通，可直接演示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749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64008" cy="1097280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56362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四维可量化评分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19476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边界意识 · 情绪稳定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认知清晰 · 坚定回应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3749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97480"/>
            <a:ext cx="64008" cy="1097280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437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可留痕、可评估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3227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复盘报告可导出，成长曲线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与徽章可见进展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7490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9C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2697480"/>
            <a:ext cx="64008" cy="1097280"/>
          </a:xfrm>
          <a:prstGeom prst="rect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8437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双端可用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20640" y="3227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一套代码浏览器直接跑，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并可打包为桌面端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8046720" cy="566928"/>
          </a:xfrm>
          <a:prstGeom prst="rect">
            <a:avLst/>
          </a:prstGeom>
          <a:solidFill>
            <a:srgbClr val="1F2A26"/>
          </a:solidFill>
          <a:ln w="12700">
            <a:solidFill>
              <a:srgbClr val="1F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776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在现有资源下已覆盖 5 关真实案例与逐轮点评，可直接现场演示。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落地路径与孵化请求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7FA0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29184" cy="329184"/>
          </a:xfrm>
          <a:prstGeom prst="ellipse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24128" y="18653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小范围前后测 + 行为指标，拿到真实数据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329184" cy="329184"/>
          </a:xfrm>
          <a:prstGeom prst="ellipse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内容扩容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24128" y="26883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关扩到 8–10 关，引入心理专业顾问审核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329184" cy="329184"/>
          </a:xfrm>
          <a:prstGeom prst="ellipse">
            <a:avLst/>
          </a:prstGeom>
          <a:solidFill>
            <a:srgbClr val="7FA07C"/>
          </a:solidFill>
          <a:ln w="12700">
            <a:solidFill>
              <a:srgbClr val="7FA0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24128" y="35112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8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报告体系与场景延展（培训 / 校园 / 企业版）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BE6A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希望得到的支持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572768"/>
            <a:ext cx="3749040" cy="713232"/>
          </a:xfrm>
          <a:prstGeom prst="rect">
            <a:avLst/>
          </a:prstGeom>
          <a:solidFill>
            <a:srgbClr val="2B3A34"/>
          </a:solidFill>
          <a:ln w="9525">
            <a:solidFill>
              <a:srgbClr val="3D5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572768"/>
            <a:ext cx="64008" cy="713232"/>
          </a:xfrm>
          <a:prstGeom prst="rect">
            <a:avLst/>
          </a:prstGeom>
          <a:solidFill>
            <a:srgbClr val="BE6A3C"/>
          </a:solidFill>
          <a:ln w="12700">
            <a:solidFill>
              <a:srgbClr val="BE6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一个决定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749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是否立项孵化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2395728"/>
            <a:ext cx="3749040" cy="713232"/>
          </a:xfrm>
          <a:prstGeom prst="rect">
            <a:avLst/>
          </a:prstGeom>
          <a:solidFill>
            <a:srgbClr val="2B3A34"/>
          </a:solidFill>
          <a:ln w="9525">
            <a:solidFill>
              <a:srgbClr val="3D50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395728"/>
            <a:ext cx="64008" cy="713232"/>
          </a:xfrm>
          <a:prstGeom prst="rect">
            <a:avLst/>
          </a:prstGeom>
          <a:solidFill>
            <a:srgbClr val="BE6A3C"/>
          </a:solidFill>
          <a:ln w="12700">
            <a:solidFill>
              <a:srgbClr val="BE6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一个资源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7492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心理专业顾问 + 美术 / 前端人力支持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218688"/>
            <a:ext cx="3749040" cy="713232"/>
          </a:xfrm>
          <a:prstGeom prst="rect">
            <a:avLst/>
          </a:prstGeom>
          <a:solidFill>
            <a:srgbClr val="2B3A34"/>
          </a:solidFill>
          <a:ln w="9525">
            <a:solidFill>
              <a:srgbClr val="3D50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218688"/>
            <a:ext cx="64008" cy="713232"/>
          </a:xfrm>
          <a:prstGeom prst="rect">
            <a:avLst/>
          </a:prstGeom>
          <a:solidFill>
            <a:srgbClr val="BE6A3C"/>
          </a:solidFill>
          <a:ln w="12700">
            <a:solidFill>
              <a:srgbClr val="BE6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6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一个窗口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7492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6–8 周里程碑，交付可演示版本与首轮数据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2793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FA0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边界不是对所有人都设防，它只是让你更清楚——谁可以走近一点。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清醒边界 · 孵化提案</dc:title>
  <dc:subject>对话式心理防御训练产品</dc:subject>
  <dc:creator>清醒边界团队</dc:creator>
  <cp:lastModifiedBy>清醒边界团队</cp:lastModifiedBy>
  <cp:revision>1</cp:revision>
  <dcterms:created xsi:type="dcterms:W3CDTF">2026-09-17T05:32:39Z</dcterms:created>
  <dcterms:modified xsi:type="dcterms:W3CDTF">2026-09-17T05:32:39Z</dcterms:modified>
</cp:coreProperties>
</file>